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5.jpg" ContentType="image/jpg"/>
  <Override PartName="/ppt/media/image8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76" r:id="rId2"/>
    <p:sldId id="279" r:id="rId3"/>
    <p:sldId id="277" r:id="rId4"/>
    <p:sldId id="278" r:id="rId5"/>
    <p:sldId id="280" r:id="rId6"/>
    <p:sldId id="281" r:id="rId7"/>
  </p:sldIdLst>
  <p:sldSz cx="9144000" cy="5143500" type="screen16x9"/>
  <p:notesSz cx="6858000" cy="9144000"/>
  <p:embeddedFontLst>
    <p:embeddedFont>
      <p:font typeface="Manrope" panose="020B0604020202020204" charset="0"/>
      <p:regular r:id="rId9"/>
      <p:bold r:id="rId10"/>
    </p:embeddedFont>
    <p:embeddedFont>
      <p:font typeface="Manrope Light" panose="020B0604020202020204" charset="0"/>
      <p:regular r:id="rId11"/>
      <p:bold r:id="rId12"/>
    </p:embeddedFont>
    <p:embeddedFont>
      <p:font typeface="Manrope Medium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747775"/>
          </p15:clr>
        </p15:guide>
        <p15:guide id="2" pos="320">
          <p15:clr>
            <a:srgbClr val="747775"/>
          </p15:clr>
        </p15:guide>
        <p15:guide id="3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77" autoAdjust="0"/>
  </p:normalViewPr>
  <p:slideViewPr>
    <p:cSldViewPr snapToGrid="0">
      <p:cViewPr varScale="1">
        <p:scale>
          <a:sx n="120" d="100"/>
          <a:sy n="120" d="100"/>
        </p:scale>
        <p:origin x="1344" y="102"/>
      </p:cViewPr>
      <p:guideLst>
        <p:guide orient="horz"/>
        <p:guide pos="32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AC22D103-594C-D2D2-10B6-32F8467A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3a008491b_0_171:notes">
            <a:extLst>
              <a:ext uri="{FF2B5EF4-FFF2-40B4-BE49-F238E27FC236}">
                <a16:creationId xmlns:a16="http://schemas.microsoft.com/office/drawing/2014/main" id="{2FA7DB2D-9F0C-936D-45AA-2F774310B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43a008491b_0_171:notes">
            <a:extLst>
              <a:ext uri="{FF2B5EF4-FFF2-40B4-BE49-F238E27FC236}">
                <a16:creationId xmlns:a16="http://schemas.microsoft.com/office/drawing/2014/main" id="{6564FF12-5332-E047-66D7-AF5EB0BDF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753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3a008491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3a008491b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El algoritmo es el cómo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El modelo es el qué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7FECBE5C-2A56-6FE4-7C7A-C9C68BC5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3a008491b_0_113:notes">
            <a:extLst>
              <a:ext uri="{FF2B5EF4-FFF2-40B4-BE49-F238E27FC236}">
                <a16:creationId xmlns:a16="http://schemas.microsoft.com/office/drawing/2014/main" id="{E9197E7F-D00F-381D-4A50-8996537F6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3a008491b_0_113:notes">
            <a:extLst>
              <a:ext uri="{FF2B5EF4-FFF2-40B4-BE49-F238E27FC236}">
                <a16:creationId xmlns:a16="http://schemas.microsoft.com/office/drawing/2014/main" id="{8CBCBB32-30D8-038A-CEDC-0C0BBB54F5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Supervisado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etiquetados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Objetivo: aprender las relaciones tal que f(entrada) = target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Clasificacion</a:t>
            </a:r>
            <a:r>
              <a:rPr lang="es-ES" dirty="0"/>
              <a:t>. Etiqueta es categórica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Regresion</a:t>
            </a:r>
            <a:r>
              <a:rPr lang="es-ES" dirty="0"/>
              <a:t> : </a:t>
            </a:r>
            <a:r>
              <a:rPr lang="es-ES" dirty="0" err="1"/>
              <a:t>Etiquera</a:t>
            </a:r>
            <a:r>
              <a:rPr lang="es-ES" dirty="0"/>
              <a:t> es numérica (valor continuo)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No Supervisado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no etiquetados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Objetivo: encontrar patrones o relaciones entre datos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Clustering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busca grupos de datos similares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Asociación: encuentra relaciones o reglas entre variables. Recomendaciones según experiencias previas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Reducción dimensionalidad: identificar variables o combinaciones de estas más importantes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Aprendizaje por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rezuerdo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Entorno para adquirir experiencias (prueba/error +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feedback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9884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A1495622-44C7-EF98-8DA8-31C28DC2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3a008491b_0_113:notes">
            <a:extLst>
              <a:ext uri="{FF2B5EF4-FFF2-40B4-BE49-F238E27FC236}">
                <a16:creationId xmlns:a16="http://schemas.microsoft.com/office/drawing/2014/main" id="{7BC709B5-3E54-1F5F-BC15-BAF2299D84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3a008491b_0_113:notes">
            <a:extLst>
              <a:ext uri="{FF2B5EF4-FFF2-40B4-BE49-F238E27FC236}">
                <a16:creationId xmlns:a16="http://schemas.microsoft.com/office/drawing/2014/main" id="{92FA48FD-CC88-4FBB-9BE7-2CD856C04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Codificación de variables categóricas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Normalización y estandarización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Creación de nuevas características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Selección de características importantes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Separar entre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train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 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2104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52A28EF7-3E00-1FF6-D5D3-50B450DA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3a008491b_0_113:notes">
            <a:extLst>
              <a:ext uri="{FF2B5EF4-FFF2-40B4-BE49-F238E27FC236}">
                <a16:creationId xmlns:a16="http://schemas.microsoft.com/office/drawing/2014/main" id="{61B0BB0D-A219-4A5B-3833-93D159FDD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3a008491b_0_113:notes">
            <a:extLst>
              <a:ext uri="{FF2B5EF4-FFF2-40B4-BE49-F238E27FC236}">
                <a16:creationId xmlns:a16="http://schemas.microsoft.com/office/drawing/2014/main" id="{A36F892D-ACA8-FBF4-C952-536F06D670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4196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8600" y="0"/>
            <a:ext cx="9125400" cy="5179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44250" tIns="44250" rIns="44250" bIns="44250" anchor="ctr" anchorCtr="0">
            <a:noAutofit/>
          </a:bodyPr>
          <a:lstStyle/>
          <a:p>
            <a:pPr>
              <a:buSzPts val="1400"/>
            </a:pPr>
            <a:endParaRPr sz="700"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 amt="73000"/>
          </a:blip>
          <a:srcRect b="6015"/>
          <a:stretch/>
        </p:blipFill>
        <p:spPr>
          <a:xfrm rot="5400000" flipH="1">
            <a:off x="4936069" y="970494"/>
            <a:ext cx="5106413" cy="33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6294451" y="4588513"/>
            <a:ext cx="2615550" cy="24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250" tIns="44250" rIns="44250" bIns="44250" anchor="t" anchorCtr="0">
            <a:spAutoFit/>
          </a:bodyPr>
          <a:lstStyle/>
          <a:p>
            <a:pPr algn="r">
              <a:buSzPts val="1600"/>
            </a:pPr>
            <a:r>
              <a:rPr lang="es-ES" sz="1000" b="1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Learn </a:t>
            </a:r>
            <a:r>
              <a:rPr lang="es-ES" sz="10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[to be] </a:t>
            </a:r>
            <a:r>
              <a:rPr lang="es-ES" sz="1000" b="1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the future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25588" y="2109175"/>
            <a:ext cx="7246500" cy="67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75" tIns="88475" rIns="88475" bIns="88475" anchor="t" anchorCtr="0">
            <a:spAutoFit/>
          </a:bodyPr>
          <a:lstStyle/>
          <a:p>
            <a:pPr>
              <a:buSzPts val="6400"/>
            </a:pPr>
            <a:r>
              <a:rPr lang="es-ES" sz="3200" dirty="0">
                <a:solidFill>
                  <a:srgbClr val="FFFFFF"/>
                </a:solidFill>
                <a:latin typeface="Manrope Light"/>
                <a:ea typeface="Manrope Light"/>
                <a:cs typeface="Manrope Light"/>
                <a:sym typeface="Manrope Light"/>
              </a:rPr>
              <a:t>Algoritmos ML</a:t>
            </a:r>
            <a:endParaRPr sz="3200" dirty="0">
              <a:solidFill>
                <a:srgbClr val="FFFFFF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69088" y="2634125"/>
            <a:ext cx="4158600" cy="39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75" tIns="88475" rIns="88475" bIns="88475" anchor="t" anchorCtr="0">
            <a:spAutoFit/>
          </a:bodyPr>
          <a:lstStyle/>
          <a:p>
            <a:pPr>
              <a:buSzPts val="2800"/>
            </a:pPr>
            <a:r>
              <a:rPr lang="es-ES" dirty="0">
                <a:solidFill>
                  <a:schemeClr val="bg1"/>
                </a:solidFill>
              </a:rPr>
              <a:t>M8 | Introducción a ML &amp; IA</a:t>
            </a:r>
            <a:endParaRPr dirty="0">
              <a:solidFill>
                <a:schemeClr val="bg1"/>
              </a:solidFill>
              <a:latin typeface="Manrope" panose="020B0604020202020204" charset="0"/>
              <a:ea typeface="Manrope ExtraLight"/>
              <a:cs typeface="Manrope ExtraLight"/>
              <a:sym typeface="Manrope ExtraLight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325" y="4437613"/>
            <a:ext cx="1031630" cy="3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2">
            <a:extLst>
              <a:ext uri="{FF2B5EF4-FFF2-40B4-BE49-F238E27FC236}">
                <a16:creationId xmlns:a16="http://schemas.microsoft.com/office/drawing/2014/main" id="{E3821761-EB0E-6D24-9E69-E0AC79C2DC4B}"/>
              </a:ext>
            </a:extLst>
          </p:cNvPr>
          <p:cNvSpPr txBox="1"/>
          <p:nvPr/>
        </p:nvSpPr>
        <p:spPr>
          <a:xfrm>
            <a:off x="193775" y="170075"/>
            <a:ext cx="2083261" cy="246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buSzPts val="1400"/>
            </a:pPr>
            <a:r>
              <a:rPr lang="es-ES" sz="1000" dirty="0">
                <a:solidFill>
                  <a:schemeClr val="bg1"/>
                </a:solidFill>
                <a:latin typeface="Manrope"/>
                <a:ea typeface="Manrope"/>
                <a:cs typeface="Manrope"/>
                <a:sym typeface="Manrope"/>
              </a:rPr>
              <a:t>Máster en Data </a:t>
            </a:r>
            <a:r>
              <a:rPr lang="es-ES" sz="1000" dirty="0" err="1">
                <a:solidFill>
                  <a:schemeClr val="bg1"/>
                </a:solidFill>
                <a:latin typeface="Manrope"/>
                <a:ea typeface="Manrope"/>
                <a:cs typeface="Manrope"/>
                <a:sym typeface="Manrope"/>
              </a:rPr>
              <a:t>Analytics</a:t>
            </a:r>
            <a:endParaRPr sz="1000" dirty="0">
              <a:solidFill>
                <a:schemeClr val="bg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02B0710E-CDBC-F597-DCEA-E389C8BE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6;p17" title="Ellipse 48.png">
            <a:extLst>
              <a:ext uri="{FF2B5EF4-FFF2-40B4-BE49-F238E27FC236}">
                <a16:creationId xmlns:a16="http://schemas.microsoft.com/office/drawing/2014/main" id="{A528160D-C756-7F90-E4E8-4B5F3B6F9ADC}"/>
              </a:ext>
            </a:extLst>
          </p:cNvPr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866710">
            <a:off x="6650224" y="451858"/>
            <a:ext cx="2012955" cy="2012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7;p17" title="Ellipse 48.png">
            <a:extLst>
              <a:ext uri="{FF2B5EF4-FFF2-40B4-BE49-F238E27FC236}">
                <a16:creationId xmlns:a16="http://schemas.microsoft.com/office/drawing/2014/main" id="{0FFB7E8B-54C7-EA15-7E8F-2D59C9E70DE8}"/>
              </a:ext>
            </a:extLst>
          </p:cNvPr>
          <p:cNvPicPr preferRelativeResize="0"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 rot="966710">
            <a:off x="5349720" y="1152880"/>
            <a:ext cx="2012955" cy="201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>
            <a:extLst>
              <a:ext uri="{FF2B5EF4-FFF2-40B4-BE49-F238E27FC236}">
                <a16:creationId xmlns:a16="http://schemas.microsoft.com/office/drawing/2014/main" id="{2DCB0731-4F8F-989B-D216-2C925E9BBA87}"/>
              </a:ext>
            </a:extLst>
          </p:cNvPr>
          <p:cNvSpPr/>
          <p:nvPr/>
        </p:nvSpPr>
        <p:spPr>
          <a:xfrm>
            <a:off x="913287" y="1068306"/>
            <a:ext cx="1603032" cy="1615419"/>
          </a:xfrm>
          <a:prstGeom prst="roundRect">
            <a:avLst>
              <a:gd name="adj" fmla="val 9009"/>
            </a:avLst>
          </a:prstGeom>
          <a:solidFill>
            <a:schemeClr val="lt1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" name="Google Shape;195;p22">
            <a:extLst>
              <a:ext uri="{FF2B5EF4-FFF2-40B4-BE49-F238E27FC236}">
                <a16:creationId xmlns:a16="http://schemas.microsoft.com/office/drawing/2014/main" id="{AC25D8E0-6F44-631D-E9EE-0C73915A5BB9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196" name="Google Shape;196;p22">
              <a:extLst>
                <a:ext uri="{FF2B5EF4-FFF2-40B4-BE49-F238E27FC236}">
                  <a16:creationId xmlns:a16="http://schemas.microsoft.com/office/drawing/2014/main" id="{BFF02B98-AC0B-058F-BFC7-7226C89CF5B6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7" name="Google Shape;197;p22">
              <a:extLst>
                <a:ext uri="{FF2B5EF4-FFF2-40B4-BE49-F238E27FC236}">
                  <a16:creationId xmlns:a16="http://schemas.microsoft.com/office/drawing/2014/main" id="{B1EE6387-D0AE-D1A0-BBA5-7400CB8218D4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98" name="Google Shape;198;p22" title="iso (15).png">
              <a:extLst>
                <a:ext uri="{FF2B5EF4-FFF2-40B4-BE49-F238E27FC236}">
                  <a16:creationId xmlns:a16="http://schemas.microsoft.com/office/drawing/2014/main" id="{598DF757-7648-F17B-19B0-7A9ACF853D84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>
            <a:extLst>
              <a:ext uri="{FF2B5EF4-FFF2-40B4-BE49-F238E27FC236}">
                <a16:creationId xmlns:a16="http://schemas.microsoft.com/office/drawing/2014/main" id="{844D936A-4E23-F7E9-423A-3358C36070FF}"/>
              </a:ext>
            </a:extLst>
          </p:cNvPr>
          <p:cNvSpPr/>
          <p:nvPr/>
        </p:nvSpPr>
        <p:spPr>
          <a:xfrm>
            <a:off x="913312" y="1068306"/>
            <a:ext cx="1603032" cy="716560"/>
          </a:xfrm>
          <a:prstGeom prst="roundRect">
            <a:avLst>
              <a:gd name="adj" fmla="val 9009"/>
            </a:avLst>
          </a:prstGeom>
          <a:solidFill>
            <a:schemeClr val="lt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B7B7B7"/>
                </a:solidFill>
              </a:rPr>
              <a:t>Foto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" name="Google Shape;194;p22">
            <a:extLst>
              <a:ext uri="{FF2B5EF4-FFF2-40B4-BE49-F238E27FC236}">
                <a16:creationId xmlns:a16="http://schemas.microsoft.com/office/drawing/2014/main" id="{C7CF48CA-6C07-26B0-352C-986826477627}"/>
              </a:ext>
            </a:extLst>
          </p:cNvPr>
          <p:cNvSpPr/>
          <p:nvPr/>
        </p:nvSpPr>
        <p:spPr>
          <a:xfrm>
            <a:off x="2784484" y="1068306"/>
            <a:ext cx="1603032" cy="1615419"/>
          </a:xfrm>
          <a:prstGeom prst="roundRect">
            <a:avLst>
              <a:gd name="adj" fmla="val 9009"/>
            </a:avLst>
          </a:prstGeom>
          <a:solidFill>
            <a:schemeClr val="lt1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06;p22">
            <a:extLst>
              <a:ext uri="{FF2B5EF4-FFF2-40B4-BE49-F238E27FC236}">
                <a16:creationId xmlns:a16="http://schemas.microsoft.com/office/drawing/2014/main" id="{F7C1A116-6891-0814-F911-B82E1FAE6E47}"/>
              </a:ext>
            </a:extLst>
          </p:cNvPr>
          <p:cNvSpPr/>
          <p:nvPr/>
        </p:nvSpPr>
        <p:spPr>
          <a:xfrm>
            <a:off x="2784509" y="1068306"/>
            <a:ext cx="1603032" cy="716560"/>
          </a:xfrm>
          <a:prstGeom prst="roundRect">
            <a:avLst>
              <a:gd name="adj" fmla="val 9009"/>
            </a:avLst>
          </a:prstGeom>
          <a:solidFill>
            <a:schemeClr val="lt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B7B7B7"/>
                </a:solidFill>
              </a:rPr>
              <a:t>Foto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" name="Google Shape;194;p22">
            <a:extLst>
              <a:ext uri="{FF2B5EF4-FFF2-40B4-BE49-F238E27FC236}">
                <a16:creationId xmlns:a16="http://schemas.microsoft.com/office/drawing/2014/main" id="{C66AF13E-8C60-E429-F163-DC15FD61D74C}"/>
              </a:ext>
            </a:extLst>
          </p:cNvPr>
          <p:cNvSpPr/>
          <p:nvPr/>
        </p:nvSpPr>
        <p:spPr>
          <a:xfrm>
            <a:off x="4655656" y="1068306"/>
            <a:ext cx="1603032" cy="1615419"/>
          </a:xfrm>
          <a:prstGeom prst="roundRect">
            <a:avLst>
              <a:gd name="adj" fmla="val 9009"/>
            </a:avLst>
          </a:prstGeom>
          <a:solidFill>
            <a:schemeClr val="lt1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06;p22">
            <a:extLst>
              <a:ext uri="{FF2B5EF4-FFF2-40B4-BE49-F238E27FC236}">
                <a16:creationId xmlns:a16="http://schemas.microsoft.com/office/drawing/2014/main" id="{3E24B424-5C56-4717-F01E-13D0DE62F8E5}"/>
              </a:ext>
            </a:extLst>
          </p:cNvPr>
          <p:cNvSpPr/>
          <p:nvPr/>
        </p:nvSpPr>
        <p:spPr>
          <a:xfrm>
            <a:off x="4655681" y="1068306"/>
            <a:ext cx="1603032" cy="716560"/>
          </a:xfrm>
          <a:prstGeom prst="roundRect">
            <a:avLst>
              <a:gd name="adj" fmla="val 9009"/>
            </a:avLst>
          </a:prstGeom>
          <a:solidFill>
            <a:schemeClr val="lt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B7B7B7"/>
                </a:solidFill>
              </a:rPr>
              <a:t>Foto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" name="Google Shape;194;p22">
            <a:extLst>
              <a:ext uri="{FF2B5EF4-FFF2-40B4-BE49-F238E27FC236}">
                <a16:creationId xmlns:a16="http://schemas.microsoft.com/office/drawing/2014/main" id="{76AD1AAC-5D10-70F3-3E24-C1078E6052B5}"/>
              </a:ext>
            </a:extLst>
          </p:cNvPr>
          <p:cNvSpPr/>
          <p:nvPr/>
        </p:nvSpPr>
        <p:spPr>
          <a:xfrm>
            <a:off x="6526853" y="1068306"/>
            <a:ext cx="1603032" cy="1615419"/>
          </a:xfrm>
          <a:prstGeom prst="roundRect">
            <a:avLst>
              <a:gd name="adj" fmla="val 9009"/>
            </a:avLst>
          </a:prstGeom>
          <a:solidFill>
            <a:schemeClr val="lt1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6;p22">
            <a:extLst>
              <a:ext uri="{FF2B5EF4-FFF2-40B4-BE49-F238E27FC236}">
                <a16:creationId xmlns:a16="http://schemas.microsoft.com/office/drawing/2014/main" id="{64DB3354-675B-A28E-E67D-CC744B93DBE6}"/>
              </a:ext>
            </a:extLst>
          </p:cNvPr>
          <p:cNvSpPr/>
          <p:nvPr/>
        </p:nvSpPr>
        <p:spPr>
          <a:xfrm>
            <a:off x="6526878" y="1068306"/>
            <a:ext cx="1603032" cy="716560"/>
          </a:xfrm>
          <a:prstGeom prst="roundRect">
            <a:avLst>
              <a:gd name="adj" fmla="val 9009"/>
            </a:avLst>
          </a:prstGeom>
          <a:solidFill>
            <a:schemeClr val="lt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B7B7B7"/>
                </a:solidFill>
              </a:rPr>
              <a:t>Foto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568A15-8426-657A-5ECA-483B3A7B733C}"/>
              </a:ext>
            </a:extLst>
          </p:cNvPr>
          <p:cNvSpPr txBox="1"/>
          <p:nvPr/>
        </p:nvSpPr>
        <p:spPr>
          <a:xfrm>
            <a:off x="2406559" y="3547400"/>
            <a:ext cx="4120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Manrope" panose="020B0604020202020204" charset="0"/>
              </a:rPr>
              <a:t>¿Cuál es la diferencia entre algoritmo y modelo?</a:t>
            </a:r>
          </a:p>
        </p:txBody>
      </p:sp>
      <p:pic>
        <p:nvPicPr>
          <p:cNvPr id="12" name="object 5">
            <a:extLst>
              <a:ext uri="{FF2B5EF4-FFF2-40B4-BE49-F238E27FC236}">
                <a16:creationId xmlns:a16="http://schemas.microsoft.com/office/drawing/2014/main" id="{C8F7ADF2-7653-6505-3A08-5765E613FF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3261" y="1068305"/>
            <a:ext cx="1603032" cy="731945"/>
          </a:xfrm>
          <a:prstGeom prst="roundRect">
            <a:avLst>
              <a:gd name="adj" fmla="val 7403"/>
            </a:avLst>
          </a:prstGeom>
        </p:spPr>
      </p:pic>
      <p:pic>
        <p:nvPicPr>
          <p:cNvPr id="231" name="Imagen 230">
            <a:extLst>
              <a:ext uri="{FF2B5EF4-FFF2-40B4-BE49-F238E27FC236}">
                <a16:creationId xmlns:a16="http://schemas.microsoft.com/office/drawing/2014/main" id="{F36E9DA1-E8F6-A195-B773-B8930BBD4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4408" y="1063543"/>
            <a:ext cx="1603083" cy="736875"/>
          </a:xfrm>
          <a:prstGeom prst="roundRect">
            <a:avLst>
              <a:gd name="adj" fmla="val 7942"/>
            </a:avLst>
          </a:prstGeom>
        </p:spPr>
      </p:pic>
      <p:pic>
        <p:nvPicPr>
          <p:cNvPr id="1026" name="Picture 2" descr="Black Box">
            <a:extLst>
              <a:ext uri="{FF2B5EF4-FFF2-40B4-BE49-F238E27FC236}">
                <a16:creationId xmlns:a16="http://schemas.microsoft.com/office/drawing/2014/main" id="{B6D08A60-6092-4127-1A14-D5FD39850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554" y="1068156"/>
            <a:ext cx="1603031" cy="716710"/>
          </a:xfrm>
          <a:prstGeom prst="roundRect">
            <a:avLst>
              <a:gd name="adj" fmla="val 83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object 13">
            <a:extLst>
              <a:ext uri="{FF2B5EF4-FFF2-40B4-BE49-F238E27FC236}">
                <a16:creationId xmlns:a16="http://schemas.microsoft.com/office/drawing/2014/main" id="{53B30775-76FF-CE16-C88E-D0D72939285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26598" y="1063542"/>
            <a:ext cx="1603286" cy="721323"/>
          </a:xfrm>
          <a:prstGeom prst="roundRect">
            <a:avLst>
              <a:gd name="adj" fmla="val 8414"/>
            </a:avLst>
          </a:prstGeom>
        </p:spPr>
      </p:pic>
      <p:sp>
        <p:nvSpPr>
          <p:cNvPr id="233" name="Google Shape;115;p16">
            <a:extLst>
              <a:ext uri="{FF2B5EF4-FFF2-40B4-BE49-F238E27FC236}">
                <a16:creationId xmlns:a16="http://schemas.microsoft.com/office/drawing/2014/main" id="{B7263A72-FA0B-3B92-025F-A54F3E2DF9FA}"/>
              </a:ext>
            </a:extLst>
          </p:cNvPr>
          <p:cNvSpPr txBox="1"/>
          <p:nvPr/>
        </p:nvSpPr>
        <p:spPr>
          <a:xfrm>
            <a:off x="1367543" y="1975664"/>
            <a:ext cx="694521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Datos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4" name="Google Shape;115;p16">
            <a:extLst>
              <a:ext uri="{FF2B5EF4-FFF2-40B4-BE49-F238E27FC236}">
                <a16:creationId xmlns:a16="http://schemas.microsoft.com/office/drawing/2014/main" id="{DFC0E97C-3F49-5D27-303B-093D294147C1}"/>
              </a:ext>
            </a:extLst>
          </p:cNvPr>
          <p:cNvSpPr txBox="1"/>
          <p:nvPr/>
        </p:nvSpPr>
        <p:spPr>
          <a:xfrm>
            <a:off x="3032832" y="1975664"/>
            <a:ext cx="1106336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Algoritmos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5" name="Google Shape;115;p16">
            <a:extLst>
              <a:ext uri="{FF2B5EF4-FFF2-40B4-BE49-F238E27FC236}">
                <a16:creationId xmlns:a16="http://schemas.microsoft.com/office/drawing/2014/main" id="{1EF0350A-D4A1-2FD5-D4D6-1011497570D5}"/>
              </a:ext>
            </a:extLst>
          </p:cNvPr>
          <p:cNvSpPr txBox="1"/>
          <p:nvPr/>
        </p:nvSpPr>
        <p:spPr>
          <a:xfrm>
            <a:off x="4991977" y="1975664"/>
            <a:ext cx="930391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Modelos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6" name="Google Shape;115;p16">
            <a:extLst>
              <a:ext uri="{FF2B5EF4-FFF2-40B4-BE49-F238E27FC236}">
                <a16:creationId xmlns:a16="http://schemas.microsoft.com/office/drawing/2014/main" id="{3D69E8D9-E059-D38D-CE5C-C183C2CB2C69}"/>
              </a:ext>
            </a:extLst>
          </p:cNvPr>
          <p:cNvSpPr txBox="1"/>
          <p:nvPr/>
        </p:nvSpPr>
        <p:spPr>
          <a:xfrm>
            <a:off x="6690196" y="1975664"/>
            <a:ext cx="1276346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Predicciones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7" name="CuadroTexto 236">
            <a:extLst>
              <a:ext uri="{FF2B5EF4-FFF2-40B4-BE49-F238E27FC236}">
                <a16:creationId xmlns:a16="http://schemas.microsoft.com/office/drawing/2014/main" id="{C8B0669D-5898-3405-352B-29793522E7A5}"/>
              </a:ext>
            </a:extLst>
          </p:cNvPr>
          <p:cNvSpPr txBox="1"/>
          <p:nvPr/>
        </p:nvSpPr>
        <p:spPr>
          <a:xfrm>
            <a:off x="3532211" y="38858"/>
            <a:ext cx="1933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Conceptos básicos</a:t>
            </a:r>
          </a:p>
        </p:txBody>
      </p:sp>
    </p:spTree>
    <p:extLst>
      <p:ext uri="{BB962C8B-B14F-4D97-AF65-F5344CB8AC3E}">
        <p14:creationId xmlns:p14="http://schemas.microsoft.com/office/powerpoint/2010/main" val="424709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30;p17">
            <a:extLst>
              <a:ext uri="{FF2B5EF4-FFF2-40B4-BE49-F238E27FC236}">
                <a16:creationId xmlns:a16="http://schemas.microsoft.com/office/drawing/2014/main" id="{5C17C494-CD59-E4C8-DF2F-EEB45B75829E}"/>
              </a:ext>
            </a:extLst>
          </p:cNvPr>
          <p:cNvSpPr/>
          <p:nvPr/>
        </p:nvSpPr>
        <p:spPr>
          <a:xfrm>
            <a:off x="4908127" y="855407"/>
            <a:ext cx="2620500" cy="2607900"/>
          </a:xfrm>
          <a:prstGeom prst="roundRect">
            <a:avLst>
              <a:gd name="adj" fmla="val 9009"/>
            </a:avLst>
          </a:prstGeom>
          <a:solidFill>
            <a:schemeClr val="lt1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" name="Google Shape;131;p17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132" name="Google Shape;132;p17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" name="Google Shape;133;p17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34" name="Google Shape;134;p17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110;p16">
            <a:extLst>
              <a:ext uri="{FF2B5EF4-FFF2-40B4-BE49-F238E27FC236}">
                <a16:creationId xmlns:a16="http://schemas.microsoft.com/office/drawing/2014/main" id="{60DBC40D-DE89-86C6-A250-0305D34F283E}"/>
              </a:ext>
            </a:extLst>
          </p:cNvPr>
          <p:cNvSpPr txBox="1"/>
          <p:nvPr/>
        </p:nvSpPr>
        <p:spPr>
          <a:xfrm>
            <a:off x="3622031" y="12395"/>
            <a:ext cx="1899936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Conceptos básicos</a:t>
            </a:r>
            <a:endParaRPr dirty="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" name="Google Shape;126;p17" title="Ellipse 48.png">
            <a:extLst>
              <a:ext uri="{FF2B5EF4-FFF2-40B4-BE49-F238E27FC236}">
                <a16:creationId xmlns:a16="http://schemas.microsoft.com/office/drawing/2014/main" id="{5CCBBC00-D72E-E9B0-BAB5-204E9B635124}"/>
              </a:ext>
            </a:extLst>
          </p:cNvPr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866710">
            <a:off x="6650224" y="451858"/>
            <a:ext cx="2012955" cy="2012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7;p17" title="Ellipse 48.png">
            <a:extLst>
              <a:ext uri="{FF2B5EF4-FFF2-40B4-BE49-F238E27FC236}">
                <a16:creationId xmlns:a16="http://schemas.microsoft.com/office/drawing/2014/main" id="{99E56528-A291-8873-7E58-F769AC41020F}"/>
              </a:ext>
            </a:extLst>
          </p:cNvPr>
          <p:cNvPicPr preferRelativeResize="0"/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 rot="966710">
            <a:off x="5349720" y="1152880"/>
            <a:ext cx="2012955" cy="201295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30;p17">
            <a:extLst>
              <a:ext uri="{FF2B5EF4-FFF2-40B4-BE49-F238E27FC236}">
                <a16:creationId xmlns:a16="http://schemas.microsoft.com/office/drawing/2014/main" id="{52E5AFA3-543A-09F2-3D8D-10FF448B3D85}"/>
              </a:ext>
            </a:extLst>
          </p:cNvPr>
          <p:cNvSpPr/>
          <p:nvPr/>
        </p:nvSpPr>
        <p:spPr>
          <a:xfrm>
            <a:off x="1168466" y="855407"/>
            <a:ext cx="2620500" cy="2607900"/>
          </a:xfrm>
          <a:prstGeom prst="roundRect">
            <a:avLst>
              <a:gd name="adj" fmla="val 9009"/>
            </a:avLst>
          </a:prstGeom>
          <a:solidFill>
            <a:schemeClr val="lt1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15;p16">
            <a:extLst>
              <a:ext uri="{FF2B5EF4-FFF2-40B4-BE49-F238E27FC236}">
                <a16:creationId xmlns:a16="http://schemas.microsoft.com/office/drawing/2014/main" id="{91CAC934-5268-351D-40A0-6BA633405051}"/>
              </a:ext>
            </a:extLst>
          </p:cNvPr>
          <p:cNvSpPr txBox="1"/>
          <p:nvPr/>
        </p:nvSpPr>
        <p:spPr>
          <a:xfrm>
            <a:off x="1821683" y="952009"/>
            <a:ext cx="1314066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ALGORITMO</a:t>
            </a:r>
            <a:endParaRPr b="1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" name="Google Shape;115;p16">
            <a:extLst>
              <a:ext uri="{FF2B5EF4-FFF2-40B4-BE49-F238E27FC236}">
                <a16:creationId xmlns:a16="http://schemas.microsoft.com/office/drawing/2014/main" id="{1692A3A3-968B-49CB-8ECE-B6B387DBEB4B}"/>
              </a:ext>
            </a:extLst>
          </p:cNvPr>
          <p:cNvSpPr txBox="1"/>
          <p:nvPr/>
        </p:nvSpPr>
        <p:spPr>
          <a:xfrm>
            <a:off x="5561344" y="952009"/>
            <a:ext cx="1314066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MODELO</a:t>
            </a:r>
            <a:endParaRPr b="1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" name="Google Shape;115;p16">
            <a:extLst>
              <a:ext uri="{FF2B5EF4-FFF2-40B4-BE49-F238E27FC236}">
                <a16:creationId xmlns:a16="http://schemas.microsoft.com/office/drawing/2014/main" id="{B152F6DF-F1CB-6836-02C2-00591AD59B8B}"/>
              </a:ext>
            </a:extLst>
          </p:cNvPr>
          <p:cNvSpPr txBox="1"/>
          <p:nvPr/>
        </p:nvSpPr>
        <p:spPr>
          <a:xfrm>
            <a:off x="1313684" y="1396060"/>
            <a:ext cx="2379085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Reglas y procedimiemtos matemáticos para crear un modelo a partir de datos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15;p16">
            <a:extLst>
              <a:ext uri="{FF2B5EF4-FFF2-40B4-BE49-F238E27FC236}">
                <a16:creationId xmlns:a16="http://schemas.microsoft.com/office/drawing/2014/main" id="{FF6E66F8-1010-C868-CDFA-C0AC2DF0C983}"/>
              </a:ext>
            </a:extLst>
          </p:cNvPr>
          <p:cNvSpPr txBox="1"/>
          <p:nvPr/>
        </p:nvSpPr>
        <p:spPr>
          <a:xfrm>
            <a:off x="4944426" y="1396060"/>
            <a:ext cx="257362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Resultado del entrenamiento de un algoritmo de ML con datos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" name="Google Shape;115;p16">
            <a:extLst>
              <a:ext uri="{FF2B5EF4-FFF2-40B4-BE49-F238E27FC236}">
                <a16:creationId xmlns:a16="http://schemas.microsoft.com/office/drawing/2014/main" id="{A08A722C-D41B-8951-F13F-6489BC82D016}"/>
              </a:ext>
            </a:extLst>
          </p:cNvPr>
          <p:cNvSpPr txBox="1"/>
          <p:nvPr/>
        </p:nvSpPr>
        <p:spPr>
          <a:xfrm>
            <a:off x="1313683" y="2283742"/>
            <a:ext cx="2379085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Regresión, clasificación, clustering, etc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" name="Google Shape;115;p16">
            <a:extLst>
              <a:ext uri="{FF2B5EF4-FFF2-40B4-BE49-F238E27FC236}">
                <a16:creationId xmlns:a16="http://schemas.microsoft.com/office/drawing/2014/main" id="{9EEB8E5F-98D5-4221-1C0A-10C2912A69C5}"/>
              </a:ext>
            </a:extLst>
          </p:cNvPr>
          <p:cNvSpPr txBox="1"/>
          <p:nvPr/>
        </p:nvSpPr>
        <p:spPr>
          <a:xfrm>
            <a:off x="4953963" y="2283742"/>
            <a:ext cx="2379085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Relaciones aprendidas de los datos que se usarán para las predicciones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9CE4993-2DCC-05C7-3149-A3394CF60CEA}"/>
              </a:ext>
            </a:extLst>
          </p:cNvPr>
          <p:cNvSpPr txBox="1"/>
          <p:nvPr/>
        </p:nvSpPr>
        <p:spPr>
          <a:xfrm>
            <a:off x="2376748" y="4027649"/>
            <a:ext cx="4089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latin typeface="Manrope" panose="020B0604020202020204" charset="0"/>
              </a:rPr>
              <a:t>Modelo</a:t>
            </a:r>
            <a:r>
              <a:rPr lang="es-ES" dirty="0">
                <a:latin typeface="Manrope" panose="020B0604020202020204" charset="0"/>
              </a:rPr>
              <a:t> = Entrenamiento (Datos + </a:t>
            </a:r>
            <a:r>
              <a:rPr lang="es-ES" b="1" dirty="0">
                <a:latin typeface="Manrope" panose="020B0604020202020204" charset="0"/>
              </a:rPr>
              <a:t>Algoritmos</a:t>
            </a:r>
            <a:r>
              <a:rPr lang="es-ES" dirty="0">
                <a:latin typeface="Manrope" panose="020B060402020202020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84F7F049-C879-EE8B-F71F-00310667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E63FB80-1156-719F-FB77-0815FB4870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4"/>
          <a:stretch>
            <a:fillRect/>
          </a:stretch>
        </p:blipFill>
        <p:spPr>
          <a:xfrm>
            <a:off x="854374" y="734181"/>
            <a:ext cx="7591901" cy="3780670"/>
          </a:xfrm>
          <a:prstGeom prst="rect">
            <a:avLst/>
          </a:prstGeom>
        </p:spPr>
      </p:pic>
      <p:grpSp>
        <p:nvGrpSpPr>
          <p:cNvPr id="131" name="Google Shape;131;p17">
            <a:extLst>
              <a:ext uri="{FF2B5EF4-FFF2-40B4-BE49-F238E27FC236}">
                <a16:creationId xmlns:a16="http://schemas.microsoft.com/office/drawing/2014/main" id="{6ED2ABA8-EF28-7EFC-EAA2-2A08B6819DB8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132" name="Google Shape;132;p17">
              <a:extLst>
                <a:ext uri="{FF2B5EF4-FFF2-40B4-BE49-F238E27FC236}">
                  <a16:creationId xmlns:a16="http://schemas.microsoft.com/office/drawing/2014/main" id="{EFA606AC-306F-ECF4-D3DD-4DC3CEBB330C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" name="Google Shape;133;p17">
              <a:extLst>
                <a:ext uri="{FF2B5EF4-FFF2-40B4-BE49-F238E27FC236}">
                  <a16:creationId xmlns:a16="http://schemas.microsoft.com/office/drawing/2014/main" id="{77F337CC-7F3A-3A6B-B3E1-7508C071C1D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34" name="Google Shape;134;p17" title="iso (15).png">
              <a:extLst>
                <a:ext uri="{FF2B5EF4-FFF2-40B4-BE49-F238E27FC236}">
                  <a16:creationId xmlns:a16="http://schemas.microsoft.com/office/drawing/2014/main" id="{270E4766-D45E-77D2-CBC8-A4EB6F607A53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110;p16">
            <a:extLst>
              <a:ext uri="{FF2B5EF4-FFF2-40B4-BE49-F238E27FC236}">
                <a16:creationId xmlns:a16="http://schemas.microsoft.com/office/drawing/2014/main" id="{41D9A7E8-60AF-FA08-510D-12D25CABBF73}"/>
              </a:ext>
            </a:extLst>
          </p:cNvPr>
          <p:cNvSpPr txBox="1"/>
          <p:nvPr/>
        </p:nvSpPr>
        <p:spPr>
          <a:xfrm>
            <a:off x="3622031" y="12395"/>
            <a:ext cx="1899936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Conceptos básicos</a:t>
            </a:r>
            <a:endParaRPr dirty="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" name="Google Shape;126;p17" title="Ellipse 48.png">
            <a:extLst>
              <a:ext uri="{FF2B5EF4-FFF2-40B4-BE49-F238E27FC236}">
                <a16:creationId xmlns:a16="http://schemas.microsoft.com/office/drawing/2014/main" id="{A759C7AB-B688-1D36-DD60-6A4F2ABACCC8}"/>
              </a:ext>
            </a:extLst>
          </p:cNvPr>
          <p:cNvPicPr preferRelativeResize="0"/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1866710">
            <a:off x="6650224" y="451858"/>
            <a:ext cx="2012955" cy="2012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7;p17" title="Ellipse 48.png">
            <a:extLst>
              <a:ext uri="{FF2B5EF4-FFF2-40B4-BE49-F238E27FC236}">
                <a16:creationId xmlns:a16="http://schemas.microsoft.com/office/drawing/2014/main" id="{6A549612-A8CA-6644-FC65-9CC1FACB0A64}"/>
              </a:ext>
            </a:extLst>
          </p:cNvPr>
          <p:cNvPicPr preferRelativeResize="0"/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 rot="966710">
            <a:off x="5349720" y="1152880"/>
            <a:ext cx="2012955" cy="20129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387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E330D513-C1C2-98C6-3934-27771E97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junto de entrenamiento de entrenamiento de fuerza | Vector gratuito">
            <a:extLst>
              <a:ext uri="{FF2B5EF4-FFF2-40B4-BE49-F238E27FC236}">
                <a16:creationId xmlns:a16="http://schemas.microsoft.com/office/drawing/2014/main" id="{1E511EF5-F6F9-7064-9C41-5C588098F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156" y="702433"/>
            <a:ext cx="3829527" cy="382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oogle Shape;131;p17">
            <a:extLst>
              <a:ext uri="{FF2B5EF4-FFF2-40B4-BE49-F238E27FC236}">
                <a16:creationId xmlns:a16="http://schemas.microsoft.com/office/drawing/2014/main" id="{BBD98A84-72F0-C246-5FF1-C82A872A5A71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132" name="Google Shape;132;p17">
              <a:extLst>
                <a:ext uri="{FF2B5EF4-FFF2-40B4-BE49-F238E27FC236}">
                  <a16:creationId xmlns:a16="http://schemas.microsoft.com/office/drawing/2014/main" id="{6FD94B41-F1B4-2056-A22E-820AA93E5A42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" name="Google Shape;133;p17">
              <a:extLst>
                <a:ext uri="{FF2B5EF4-FFF2-40B4-BE49-F238E27FC236}">
                  <a16:creationId xmlns:a16="http://schemas.microsoft.com/office/drawing/2014/main" id="{A8A75B93-059A-E613-6759-75534B1CA47A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34" name="Google Shape;134;p17" title="iso (15).png">
              <a:extLst>
                <a:ext uri="{FF2B5EF4-FFF2-40B4-BE49-F238E27FC236}">
                  <a16:creationId xmlns:a16="http://schemas.microsoft.com/office/drawing/2014/main" id="{B6ED57A4-D744-FDC7-2684-88CB35C4C79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110;p16">
            <a:extLst>
              <a:ext uri="{FF2B5EF4-FFF2-40B4-BE49-F238E27FC236}">
                <a16:creationId xmlns:a16="http://schemas.microsoft.com/office/drawing/2014/main" id="{0EDE7153-421A-85E0-A69C-C6A97C4F1310}"/>
              </a:ext>
            </a:extLst>
          </p:cNvPr>
          <p:cNvSpPr txBox="1"/>
          <p:nvPr/>
        </p:nvSpPr>
        <p:spPr>
          <a:xfrm>
            <a:off x="2869064" y="12395"/>
            <a:ext cx="364387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Entrenamiento de modelos (supervisado)</a:t>
            </a:r>
            <a:endParaRPr dirty="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" name="Google Shape;126;p17" title="Ellipse 48.png">
            <a:extLst>
              <a:ext uri="{FF2B5EF4-FFF2-40B4-BE49-F238E27FC236}">
                <a16:creationId xmlns:a16="http://schemas.microsoft.com/office/drawing/2014/main" id="{B9784CF8-872B-5EC9-11E2-4E9C7449ED74}"/>
              </a:ext>
            </a:extLst>
          </p:cNvPr>
          <p:cNvPicPr preferRelativeResize="0"/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1866710">
            <a:off x="6650224" y="451858"/>
            <a:ext cx="2012955" cy="2012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7;p17" title="Ellipse 48.png">
            <a:extLst>
              <a:ext uri="{FF2B5EF4-FFF2-40B4-BE49-F238E27FC236}">
                <a16:creationId xmlns:a16="http://schemas.microsoft.com/office/drawing/2014/main" id="{D60B46DD-CC89-A9F8-2DF8-7892B314893C}"/>
              </a:ext>
            </a:extLst>
          </p:cNvPr>
          <p:cNvPicPr preferRelativeResize="0"/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 rot="966710">
            <a:off x="5349720" y="1152880"/>
            <a:ext cx="2012955" cy="20129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BDC0C81-803B-9424-72B9-CC21E0C02933}"/>
              </a:ext>
            </a:extLst>
          </p:cNvPr>
          <p:cNvSpPr txBox="1"/>
          <p:nvPr/>
        </p:nvSpPr>
        <p:spPr>
          <a:xfrm>
            <a:off x="511051" y="722750"/>
            <a:ext cx="821385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chemeClr val="tx1"/>
                </a:solidFill>
                <a:latin typeface="Manrope" panose="020B0604020202020204" charset="0"/>
              </a:rPr>
              <a:t>Análisis y preprocesamiento</a:t>
            </a:r>
          </a:p>
          <a:p>
            <a:pPr marL="342900" indent="-342900">
              <a:buFont typeface="+mj-lt"/>
              <a:buAutoNum type="arabicPeriod"/>
            </a:pPr>
            <a:endParaRPr lang="es-ES" dirty="0">
              <a:latin typeface="Manrope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endParaRPr lang="es-ES" dirty="0">
              <a:latin typeface="Manrope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_tradnl" b="1" dirty="0">
                <a:latin typeface="Manrope" panose="020B0604020202020204" charset="0"/>
              </a:rPr>
              <a:t>Preparación del </a:t>
            </a:r>
            <a:r>
              <a:rPr lang="es-ES_tradnl" b="1" dirty="0" err="1">
                <a:latin typeface="Manrope" panose="020B0604020202020204" charset="0"/>
              </a:rPr>
              <a:t>dataset</a:t>
            </a:r>
            <a:r>
              <a:rPr lang="es-ES_tradnl" b="1" dirty="0">
                <a:latin typeface="Manrope" panose="020B0604020202020204" charset="0"/>
              </a:rPr>
              <a:t> de entrenamiento</a:t>
            </a:r>
            <a:r>
              <a:rPr lang="es-ES_tradnl" dirty="0">
                <a:latin typeface="Manrope" panose="020B0604020202020204" charset="0"/>
              </a:rPr>
              <a:t>  (incluye </a:t>
            </a:r>
            <a:r>
              <a:rPr lang="es-ES_tradnl" dirty="0" err="1">
                <a:latin typeface="Manrope" panose="020B0604020202020204" charset="0"/>
              </a:rPr>
              <a:t>feature</a:t>
            </a:r>
            <a:r>
              <a:rPr lang="es-ES_tradnl" dirty="0">
                <a:latin typeface="Manrope" panose="020B0604020202020204" charset="0"/>
              </a:rPr>
              <a:t> </a:t>
            </a:r>
            <a:r>
              <a:rPr lang="es-ES_tradnl" dirty="0" err="1">
                <a:latin typeface="Manrope" panose="020B0604020202020204" charset="0"/>
              </a:rPr>
              <a:t>engineering</a:t>
            </a:r>
            <a:r>
              <a:rPr lang="es-ES_tradnl" dirty="0">
                <a:latin typeface="Manrope" panose="020B0604020202020204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es-ES" dirty="0">
              <a:latin typeface="Manrope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endParaRPr lang="es-ES" dirty="0">
              <a:latin typeface="Manrope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_tradnl" b="1" dirty="0">
                <a:latin typeface="Manrope" panose="020B0604020202020204" charset="0"/>
              </a:rPr>
              <a:t>Seleccionar el algoritmo</a:t>
            </a:r>
            <a:r>
              <a:rPr lang="es-ES_tradnl" dirty="0">
                <a:latin typeface="Manrope" panose="020B0604020202020204" charset="0"/>
              </a:rPr>
              <a:t> o lista de algoritmos (apropiados para el  tipo de problema)</a:t>
            </a:r>
          </a:p>
          <a:p>
            <a:pPr marL="342900" indent="-342900">
              <a:buFont typeface="+mj-lt"/>
              <a:buAutoNum type="arabicPeriod"/>
            </a:pPr>
            <a:endParaRPr lang="es-ES_tradnl" dirty="0">
              <a:latin typeface="Manrope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endParaRPr lang="es-ES_tradnl" dirty="0">
              <a:latin typeface="Manrope" panose="020B060402020202020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_tradnl" dirty="0">
                <a:solidFill>
                  <a:srgbClr val="141414"/>
                </a:solidFill>
                <a:latin typeface="Manrope"/>
              </a:rPr>
              <a:t>Durante el </a:t>
            </a:r>
            <a:r>
              <a:rPr lang="es-ES_tradnl" b="1" dirty="0">
                <a:solidFill>
                  <a:schemeClr val="tx1"/>
                </a:solidFill>
                <a:latin typeface="Manrope"/>
              </a:rPr>
              <a:t>entrenamiento</a:t>
            </a:r>
            <a:r>
              <a:rPr lang="es-ES_tradnl" dirty="0">
                <a:solidFill>
                  <a:srgbClr val="141414"/>
                </a:solidFill>
                <a:latin typeface="Manrope"/>
              </a:rPr>
              <a:t>, el algoritmo buscará patrones en los datos obteniendo un modelo.</a:t>
            </a:r>
            <a:endParaRPr lang="es-ES_tradnl" dirty="0">
              <a:latin typeface="Manrope" panose="020B0604020202020204" charset="0"/>
            </a:endParaRPr>
          </a:p>
          <a:p>
            <a:endParaRPr lang="es-ES" dirty="0">
              <a:latin typeface="Manrope" panose="020B0604020202020204" charset="0"/>
            </a:endParaRPr>
          </a:p>
          <a:p>
            <a:endParaRPr lang="es-ES" dirty="0">
              <a:latin typeface="Manrope" panose="020B0604020202020204" charset="0"/>
            </a:endParaRPr>
          </a:p>
          <a:p>
            <a:endParaRPr lang="es-ES" dirty="0">
              <a:latin typeface="Manrope" panose="020B0604020202020204" charset="0"/>
            </a:endParaRPr>
          </a:p>
          <a:p>
            <a:endParaRPr lang="es-ES" dirty="0">
              <a:latin typeface="Manrope" panose="020B0604020202020204" charset="0"/>
            </a:endParaRPr>
          </a:p>
          <a:p>
            <a:pPr algn="just"/>
            <a:r>
              <a:rPr lang="es-ES_tradnl" dirty="0">
                <a:solidFill>
                  <a:srgbClr val="141414"/>
                </a:solidFill>
                <a:latin typeface="Manrope"/>
              </a:rPr>
              <a:t>Tras entrenamiento, el modelo será capaz de </a:t>
            </a:r>
            <a:r>
              <a:rPr lang="es-ES_tradnl" b="1" dirty="0">
                <a:solidFill>
                  <a:schemeClr val="tx1"/>
                </a:solidFill>
                <a:latin typeface="Manrope"/>
              </a:rPr>
              <a:t>predecir</a:t>
            </a:r>
            <a:r>
              <a:rPr lang="es-ES_tradnl" dirty="0">
                <a:solidFill>
                  <a:srgbClr val="141414"/>
                </a:solidFill>
                <a:latin typeface="Manrope"/>
              </a:rPr>
              <a:t> (determinar la salida para nuevas entradas) basándose en las relaciones/patrones extraídos (¡pero su </a:t>
            </a:r>
            <a:r>
              <a:rPr lang="es-ES_tradnl" b="1" dirty="0">
                <a:solidFill>
                  <a:schemeClr val="tx1"/>
                </a:solidFill>
                <a:latin typeface="Manrope"/>
              </a:rPr>
              <a:t>evaluación</a:t>
            </a:r>
            <a:r>
              <a:rPr lang="es-ES_tradnl" dirty="0">
                <a:solidFill>
                  <a:srgbClr val="141414"/>
                </a:solidFill>
                <a:latin typeface="Manrope"/>
              </a:rPr>
              <a:t> es clave!).</a:t>
            </a:r>
          </a:p>
          <a:p>
            <a:pPr marL="342900" indent="-342900">
              <a:buFont typeface="+mj-lt"/>
              <a:buAutoNum type="arabicPeriod"/>
            </a:pPr>
            <a:endParaRPr lang="es-ES" dirty="0"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26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C6A757B7-1C0B-C877-973A-50C0B9B31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7">
            <a:extLst>
              <a:ext uri="{FF2B5EF4-FFF2-40B4-BE49-F238E27FC236}">
                <a16:creationId xmlns:a16="http://schemas.microsoft.com/office/drawing/2014/main" id="{A6CF7EE4-3818-B176-611C-162DA2524949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132" name="Google Shape;132;p17">
              <a:extLst>
                <a:ext uri="{FF2B5EF4-FFF2-40B4-BE49-F238E27FC236}">
                  <a16:creationId xmlns:a16="http://schemas.microsoft.com/office/drawing/2014/main" id="{9322217F-71DF-5220-6C94-05E7A43A0625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" name="Google Shape;133;p17">
              <a:extLst>
                <a:ext uri="{FF2B5EF4-FFF2-40B4-BE49-F238E27FC236}">
                  <a16:creationId xmlns:a16="http://schemas.microsoft.com/office/drawing/2014/main" id="{3795D47F-E0E4-9E9F-4BB9-FEDE2C12B951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34" name="Google Shape;134;p17" title="iso (15).png">
              <a:extLst>
                <a:ext uri="{FF2B5EF4-FFF2-40B4-BE49-F238E27FC236}">
                  <a16:creationId xmlns:a16="http://schemas.microsoft.com/office/drawing/2014/main" id="{9067DE77-D059-503F-8A24-9628E219618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110;p16">
            <a:extLst>
              <a:ext uri="{FF2B5EF4-FFF2-40B4-BE49-F238E27FC236}">
                <a16:creationId xmlns:a16="http://schemas.microsoft.com/office/drawing/2014/main" id="{DFB7832B-97FD-4632-79EA-8EDEB499309E}"/>
              </a:ext>
            </a:extLst>
          </p:cNvPr>
          <p:cNvSpPr txBox="1"/>
          <p:nvPr/>
        </p:nvSpPr>
        <p:spPr>
          <a:xfrm>
            <a:off x="2869064" y="12395"/>
            <a:ext cx="364387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Entrenamiento de modelos (supervisado)</a:t>
            </a:r>
            <a:endParaRPr dirty="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" name="Google Shape;126;p17" title="Ellipse 48.png">
            <a:extLst>
              <a:ext uri="{FF2B5EF4-FFF2-40B4-BE49-F238E27FC236}">
                <a16:creationId xmlns:a16="http://schemas.microsoft.com/office/drawing/2014/main" id="{3F5D6DD7-01DD-B92E-5296-341CAB41140E}"/>
              </a:ext>
            </a:extLst>
          </p:cNvPr>
          <p:cNvPicPr preferRelativeResize="0"/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866710">
            <a:off x="6650224" y="451858"/>
            <a:ext cx="2012955" cy="2012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7;p17" title="Ellipse 48.png">
            <a:extLst>
              <a:ext uri="{FF2B5EF4-FFF2-40B4-BE49-F238E27FC236}">
                <a16:creationId xmlns:a16="http://schemas.microsoft.com/office/drawing/2014/main" id="{5D1C5E54-FA85-64B0-E34D-A4020762F6EA}"/>
              </a:ext>
            </a:extLst>
          </p:cNvPr>
          <p:cNvPicPr preferRelativeResize="0"/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 rot="966710">
            <a:off x="5349720" y="1152880"/>
            <a:ext cx="2012955" cy="20129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97F8BDF-B1DF-5C41-D311-805B7454BFDD}"/>
              </a:ext>
            </a:extLst>
          </p:cNvPr>
          <p:cNvSpPr txBox="1"/>
          <p:nvPr/>
        </p:nvSpPr>
        <p:spPr>
          <a:xfrm>
            <a:off x="511051" y="722750"/>
            <a:ext cx="8213850" cy="414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tx1"/>
                </a:solidFill>
                <a:latin typeface="Manrope" panose="020B0604020202020204" charset="0"/>
              </a:rPr>
              <a:t>Mejores datos, mejor modelo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latin typeface="Manrope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>
              <a:latin typeface="Manrope" panose="020B0604020202020204" charset="0"/>
            </a:endParaRPr>
          </a:p>
          <a:p>
            <a:pPr marL="342900" indent="-342900" algn="just" defTabSz="1828755">
              <a:lnSpc>
                <a:spcPct val="115000"/>
              </a:lnSpc>
              <a:spcBef>
                <a:spcPts val="600"/>
              </a:spcBef>
              <a:buSzPts val="2000"/>
              <a:buFont typeface="Arial" panose="020B0604020202020204" pitchFamily="34" charset="0"/>
              <a:buChar char="•"/>
            </a:pPr>
            <a:r>
              <a:rPr lang="es-ES_tradnl" b="1" dirty="0">
                <a:solidFill>
                  <a:schemeClr val="tx1"/>
                </a:solidFill>
                <a:latin typeface="Manrope" panose="020B0604020202020204" charset="0"/>
              </a:rPr>
              <a:t>El aprendizaje automático no es magia. </a:t>
            </a:r>
            <a:r>
              <a:rPr lang="es-ES_tradnl" dirty="0">
                <a:solidFill>
                  <a:schemeClr val="tx1"/>
                </a:solidFill>
                <a:latin typeface="Manrope" panose="020B0604020202020204" charset="0"/>
              </a:rPr>
              <a:t>Los algoritmos aprenden de comportamiento reflejados en los datos (pasado), y los patrones que se pueden inferir están limitados a los datos históricos disponibles</a:t>
            </a:r>
          </a:p>
          <a:p>
            <a:pPr marL="342900" indent="-342900" algn="just" defTabSz="1828755">
              <a:lnSpc>
                <a:spcPct val="115000"/>
              </a:lnSpc>
              <a:spcBef>
                <a:spcPts val="600"/>
              </a:spcBef>
              <a:buSzPts val="2000"/>
              <a:buFont typeface="Arial" panose="020B0604020202020204" pitchFamily="34" charset="0"/>
              <a:buChar char="•"/>
            </a:pPr>
            <a:endParaRPr lang="es-ES_tradnl" dirty="0">
              <a:solidFill>
                <a:schemeClr val="tx1"/>
              </a:solidFill>
              <a:latin typeface="Manrope" panose="020B0604020202020204" charset="0"/>
            </a:endParaRPr>
          </a:p>
          <a:p>
            <a:pPr marL="342900" indent="-342900" algn="just" defTabSz="1828755">
              <a:lnSpc>
                <a:spcPct val="115000"/>
              </a:lnSpc>
              <a:spcBef>
                <a:spcPts val="600"/>
              </a:spcBef>
              <a:buSzPts val="2000"/>
              <a:buFont typeface="Arial" panose="020B0604020202020204" pitchFamily="34" charset="0"/>
              <a:buChar char="•"/>
            </a:pPr>
            <a:r>
              <a:rPr lang="es-ES_tradnl" b="1" dirty="0">
                <a:solidFill>
                  <a:schemeClr val="tx1"/>
                </a:solidFill>
                <a:latin typeface="Manrope" panose="020B0604020202020204" charset="0"/>
              </a:rPr>
              <a:t>No todo lo que se puede contar cuenta</a:t>
            </a:r>
            <a:r>
              <a:rPr lang="es-ES_tradnl" b="1" dirty="0">
                <a:solidFill>
                  <a:srgbClr val="141414"/>
                </a:solidFill>
                <a:latin typeface="Manrope"/>
              </a:rPr>
              <a:t>. </a:t>
            </a:r>
            <a:r>
              <a:rPr lang="es-ES_tradnl" dirty="0">
                <a:solidFill>
                  <a:srgbClr val="141414"/>
                </a:solidFill>
                <a:latin typeface="Manrope"/>
              </a:rPr>
              <a:t>La identificación de variables/características de relevancia es uno de los aspectos clave en el desarrollo de un modelo de aprendizaje automático.</a:t>
            </a:r>
          </a:p>
          <a:p>
            <a:pPr marL="342900" indent="-342900" algn="just" defTabSz="1828755">
              <a:lnSpc>
                <a:spcPct val="115000"/>
              </a:lnSpc>
              <a:spcBef>
                <a:spcPts val="600"/>
              </a:spcBef>
              <a:buSzPts val="2000"/>
              <a:buFont typeface="Arial" panose="020B0604020202020204" pitchFamily="34" charset="0"/>
              <a:buChar char="•"/>
            </a:pPr>
            <a:endParaRPr lang="es-ES_tradnl" dirty="0">
              <a:solidFill>
                <a:srgbClr val="141414"/>
              </a:solidFill>
              <a:latin typeface="Manrope"/>
            </a:endParaRPr>
          </a:p>
          <a:p>
            <a:pPr marL="342900" indent="-342900" algn="just" defTabSz="1828755">
              <a:lnSpc>
                <a:spcPct val="115000"/>
              </a:lnSpc>
              <a:spcBef>
                <a:spcPts val="600"/>
              </a:spcBef>
              <a:buSzPts val="2000"/>
              <a:buFont typeface="Arial" panose="020B0604020202020204" pitchFamily="34" charset="0"/>
              <a:buChar char="•"/>
            </a:pPr>
            <a:r>
              <a:rPr lang="es-ES_tradnl" b="1" dirty="0">
                <a:solidFill>
                  <a:schemeClr val="tx1"/>
                </a:solidFill>
                <a:latin typeface="Manrope" panose="020B0604020202020204" charset="0"/>
              </a:rPr>
              <a:t>Generalizar, generalizar, generalizar.</a:t>
            </a:r>
            <a:r>
              <a:rPr lang="es-ES_tradnl" b="1" dirty="0">
                <a:solidFill>
                  <a:srgbClr val="0070C0"/>
                </a:solidFill>
                <a:latin typeface="Manrope"/>
              </a:rPr>
              <a:t> </a:t>
            </a:r>
            <a:r>
              <a:rPr lang="es-ES_tradnl" dirty="0">
                <a:solidFill>
                  <a:srgbClr val="141414"/>
                </a:solidFill>
                <a:latin typeface="Manrope"/>
              </a:rPr>
              <a:t>No se trata solo de cómo ajustamos o cómo de bien explicamos los datos de entrenamiento (varianza vs sesgo).</a:t>
            </a:r>
          </a:p>
          <a:p>
            <a:pPr algn="just" defTabSz="1828755">
              <a:lnSpc>
                <a:spcPct val="115000"/>
              </a:lnSpc>
              <a:spcBef>
                <a:spcPts val="600"/>
              </a:spcBef>
              <a:buSzPts val="2000"/>
            </a:pPr>
            <a:endParaRPr lang="es-ES" dirty="0">
              <a:latin typeface="Manrope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endParaRPr lang="es-ES" dirty="0"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86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411</Words>
  <Application>Microsoft Office PowerPoint</Application>
  <PresentationFormat>Presentación en pantalla (16:9)</PresentationFormat>
  <Paragraphs>80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Manrope</vt:lpstr>
      <vt:lpstr>Manrope Light</vt:lpstr>
      <vt:lpstr>Arial</vt:lpstr>
      <vt:lpstr>Manrope Medium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Cristian Diez Esparza</cp:lastModifiedBy>
  <cp:revision>3</cp:revision>
  <dcterms:modified xsi:type="dcterms:W3CDTF">2025-08-28T15:10:35Z</dcterms:modified>
</cp:coreProperties>
</file>